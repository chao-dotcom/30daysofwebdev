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淺色樣式 2 - 輔色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C7E88C-4BAC-8C04-1BB8-D62EDD5874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029836A-451A-3C1F-2789-BE42C9FF70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1C66D6-0BD0-FBED-D0B9-D9931BEA0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1A8E-E9B0-4DEA-8169-9CB53800FEC6}" type="datetimeFigureOut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9CEA10F-DC86-7E8A-92ED-B51DCD97C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B39C994-5AFE-6F2E-750D-0540FC0E2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1FF17-97FC-49BC-AAD9-6DD26B91AAE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5533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8040B9-9D50-FE95-88BE-10F847B15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7F678C2-780C-57FE-6EA1-688D7597B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02FDD6C-C4D6-99CB-CDB8-CC26BC6C5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1A8E-E9B0-4DEA-8169-9CB53800FEC6}" type="datetimeFigureOut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E7C228C-9FF7-1370-3F6B-E08EA040A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051E712-FECE-142E-5400-888195288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1FF17-97FC-49BC-AAD9-6DD26B91AAE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8801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A33848-D93F-8C21-1890-318B034E5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F5AB34C-8922-226F-0A62-4F75DDD93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A20634C-BEAA-B552-F454-C6700FAD5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1A8E-E9B0-4DEA-8169-9CB53800FEC6}" type="datetimeFigureOut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3ADBD58-4952-C778-9914-8D703649A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864F91A-182C-9EF1-67F0-9141767D0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1FF17-97FC-49BC-AAD9-6DD26B91AAE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7626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2B0783-33E0-4C31-EDE5-5133BBB04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88E68A4-FFEC-65F5-E153-A6360D0FDB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F7FDDD1-3A30-5C1E-370A-7CB35885FB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8694017-BEC4-9B62-3875-E71D5876B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1A8E-E9B0-4DEA-8169-9CB53800FEC6}" type="datetimeFigureOut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5EE30AB-DB97-79A3-1930-FD438440C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E486CFC-7662-74D2-B747-5A732665E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1FF17-97FC-49BC-AAD9-6DD26B91AAE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7620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9CE301-B3A3-8692-5EBF-698105F4E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7DD0668-B571-3792-AEC2-FDB5CCD8E4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F2525A2-EB42-41D1-BD6C-B5B497FC7A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6135F88-B9DF-E28C-6DD7-15D8BDE343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9F4682D-1E3E-5720-29BE-36DEF5A29F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A7701D9-4C1C-E827-ABEE-6589412E2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1A8E-E9B0-4DEA-8169-9CB53800FEC6}" type="datetimeFigureOut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D682937-344B-3AA5-AB8D-1ED0FE078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D4B387B-647E-0D53-1F4F-981C880CA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1FF17-97FC-49BC-AAD9-6DD26B91AAE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2525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A465EB-6638-0C71-82DE-086E508B6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9D9F0AF-C2B3-D156-7507-80B3759E6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1A8E-E9B0-4DEA-8169-9CB53800FEC6}" type="datetimeFigureOut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316C5B5-CD89-D975-C209-0347B858B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DF701D5-553B-F08F-16B1-0F81DC7BB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1FF17-97FC-49BC-AAD9-6DD26B91AAE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2079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7706584-8A83-495A-742F-970D3C4FB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1A8E-E9B0-4DEA-8169-9CB53800FEC6}" type="datetimeFigureOut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A20C907-D48A-1A83-590F-E3B358728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156AA5C-B52B-2F66-76E3-79DCE2DD1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1FF17-97FC-49BC-AAD9-6DD26B91AAE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5181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A1B8B6-35B0-2F42-2099-07C5BCB7E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D915E1C-ADBD-489A-2765-9CFF28370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8C8F45B-5FDD-C0E1-3AA9-62FCCF3E0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69786D3-1F2B-16C5-3F87-DAFB4A5E7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1A8E-E9B0-4DEA-8169-9CB53800FEC6}" type="datetimeFigureOut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2EFC757-63FC-81EF-9740-EC09E7FE2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12D5618-EF7D-B291-50DB-F85AF1442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1FF17-97FC-49BC-AAD9-6DD26B91AAE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7936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B430E4-7B19-9A35-3CFE-095CF8B6F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39D8394-9F86-326D-B8FC-807356C6FC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730495B-6EDB-6B06-7F5D-53A2B22302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BD93AB1-9237-0831-662A-F07390B23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1A8E-E9B0-4DEA-8169-9CB53800FEC6}" type="datetimeFigureOut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E51C33C-6520-E741-E017-B8A939E34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F1E2169-D824-9889-BB0B-94AD5B174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1FF17-97FC-49BC-AAD9-6DD26B91AAE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0848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E38756-CAC7-C28B-1137-D7C3584C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F879191-8DE3-4A4A-4951-8B6B2A827E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9449EA9-C438-D967-5EEB-FAA70630E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1A8E-E9B0-4DEA-8169-9CB53800FEC6}" type="datetimeFigureOut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B63F475-5A22-80FE-1743-83A4E8380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604A03E-E8E4-B00A-87DC-9838BAE00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1FF17-97FC-49BC-AAD9-6DD26B91AAE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8759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A081CAB-3B8A-4DAB-71C9-5E047FF84C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DF32FEB-080F-F26C-DBF5-87715245D2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6CB5DCB-B22D-A724-D294-E981A9045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E1A8E-E9B0-4DEA-8169-9CB53800FEC6}" type="datetimeFigureOut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41FAF53-7876-E3ED-574B-45DC32241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8B4D555-84CA-C6AE-A24E-E96896DD3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1FF17-97FC-49BC-AAD9-6DD26B91AAE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744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FEC1999-741F-7143-AA28-D156E515D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86D1770-FEB4-7453-0045-970EBE91B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DF8677B-3396-A17C-EF5B-C2DFA0532D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5E1A8E-E9B0-4DEA-8169-9CB53800FEC6}" type="datetimeFigureOut">
              <a:rPr lang="zh-TW" altLang="en-US" smtClean="0"/>
              <a:t>2025/11/13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4426BE6-AAA6-EDF5-C491-19928EDBCE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BB653CC-8104-0F60-0826-A3D1FBF447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61FF17-97FC-49BC-AAD9-6DD26B91AAE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3980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31E69CE1-F79F-3290-1FFB-36E31D21D3F3}"/>
              </a:ext>
            </a:extLst>
          </p:cNvPr>
          <p:cNvSpPr/>
          <p:nvPr/>
        </p:nvSpPr>
        <p:spPr>
          <a:xfrm>
            <a:off x="1920954" y="704881"/>
            <a:ext cx="1164336" cy="101193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Browser</a:t>
            </a:r>
            <a:endParaRPr lang="zh-TW" altLang="en-US" dirty="0"/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88891CEB-9B98-3B79-D33B-C304B63F2D40}"/>
              </a:ext>
            </a:extLst>
          </p:cNvPr>
          <p:cNvSpPr/>
          <p:nvPr/>
        </p:nvSpPr>
        <p:spPr>
          <a:xfrm>
            <a:off x="9849210" y="671388"/>
            <a:ext cx="1164336" cy="101193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Server</a:t>
            </a:r>
            <a:endParaRPr lang="zh-TW" altLang="en-US" dirty="0"/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E7A783BE-2D90-8AB2-2A33-A63F89FF02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5754247"/>
              </p:ext>
            </p:extLst>
          </p:nvPr>
        </p:nvGraphicFramePr>
        <p:xfrm>
          <a:off x="4231740" y="1723645"/>
          <a:ext cx="2988022" cy="1862589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2988022">
                  <a:extLst>
                    <a:ext uri="{9D8B030D-6E8A-4147-A177-3AD203B41FA5}">
                      <a16:colId xmlns:a16="http://schemas.microsoft.com/office/drawing/2014/main" val="3567976702"/>
                    </a:ext>
                  </a:extLst>
                </a:gridCol>
              </a:tblGrid>
              <a:tr h="3766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Browser sent</a:t>
                      </a:r>
                      <a:r>
                        <a:rPr lang="zh-TW" altLang="en-US" dirty="0"/>
                        <a:t> re</a:t>
                      </a:r>
                      <a:r>
                        <a:rPr lang="en-US" altLang="zh-TW" dirty="0"/>
                        <a:t>quest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8738663"/>
                  </a:ext>
                </a:extLst>
              </a:tr>
              <a:tr h="1485944">
                <a:tc>
                  <a:txBody>
                    <a:bodyPr/>
                    <a:lstStyle/>
                    <a:p>
                      <a:r>
                        <a:rPr lang="zh-TW" altLang="en-US" dirty="0"/>
                        <a:t>HTTP/1.1</a:t>
                      </a:r>
                      <a:endParaRPr lang="en-US" altLang="zh-TW" dirty="0"/>
                    </a:p>
                    <a:p>
                      <a:r>
                        <a:rPr lang="zh-TW" altLang="en-US" dirty="0"/>
                        <a:t>Host: bank.com</a:t>
                      </a:r>
                      <a:endParaRPr lang="en-US" altLang="zh-TW" dirty="0"/>
                    </a:p>
                    <a:p>
                      <a:r>
                        <a:rPr lang="zh-TW" altLang="en-US" dirty="0"/>
                        <a:t>Origin: evil.com      </a:t>
                      </a:r>
                      <a:endParaRPr lang="en-US" altLang="zh-TW" dirty="0"/>
                    </a:p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Cookie</a:t>
                      </a:r>
                      <a:r>
                        <a:rPr lang="zh-TW" altLang="en-US" dirty="0">
                          <a:solidFill>
                            <a:srgbClr val="FF0000"/>
                          </a:solidFill>
                        </a:rPr>
                        <a:t>: sessionId=abc123 </a:t>
                      </a:r>
                      <a:endParaRPr lang="en-US" altLang="zh-TW" dirty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zh-TW" altLang="en-US" dirty="0"/>
                        <a:t>(lax allows GET)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6108026"/>
                  </a:ext>
                </a:extLst>
              </a:tr>
            </a:tbl>
          </a:graphicData>
        </a:graphic>
      </p:graphicFrame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6E79C67D-8DEB-62BD-8374-B738FDC63A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1853674"/>
              </p:ext>
            </p:extLst>
          </p:nvPr>
        </p:nvGraphicFramePr>
        <p:xfrm>
          <a:off x="5386202" y="4081491"/>
          <a:ext cx="3667121" cy="1862589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3667121">
                  <a:extLst>
                    <a:ext uri="{9D8B030D-6E8A-4147-A177-3AD203B41FA5}">
                      <a16:colId xmlns:a16="http://schemas.microsoft.com/office/drawing/2014/main" val="3567976702"/>
                    </a:ext>
                  </a:extLst>
                </a:gridCol>
              </a:tblGrid>
              <a:tr h="3766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Server response</a:t>
                      </a:r>
                      <a:endParaRPr lang="en-US" altLang="zh-TW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8738663"/>
                  </a:ext>
                </a:extLst>
              </a:tr>
              <a:tr h="14859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HTTP/1.1 200 OK</a:t>
                      </a:r>
                      <a:endParaRPr lang="en-US" altLang="zh-TW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>
                          <a:solidFill>
                            <a:srgbClr val="FF0000"/>
                          </a:solidFill>
                        </a:rPr>
                        <a:t>Access-Control-Allow-Origin: https://mybank.com  </a:t>
                      </a:r>
                      <a:endParaRPr lang="en-US" altLang="zh-TW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dirty="0"/>
                        <a:t>Access-Control-Allow-Credentials: true</a:t>
                      </a:r>
                      <a:endParaRPr lang="en-US" altLang="zh-TW" sz="16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{"balance": 50000}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6108026"/>
                  </a:ext>
                </a:extLst>
              </a:tr>
            </a:tbl>
          </a:graphicData>
        </a:graphic>
      </p:graphicFrame>
      <p:sp>
        <p:nvSpPr>
          <p:cNvPr id="18" name="矩形 17">
            <a:extLst>
              <a:ext uri="{FF2B5EF4-FFF2-40B4-BE49-F238E27FC236}">
                <a16:creationId xmlns:a16="http://schemas.microsoft.com/office/drawing/2014/main" id="{1C22B0CA-D48C-A45C-B804-B13CE57626DB}"/>
              </a:ext>
            </a:extLst>
          </p:cNvPr>
          <p:cNvSpPr/>
          <p:nvPr/>
        </p:nvSpPr>
        <p:spPr>
          <a:xfrm>
            <a:off x="9471786" y="3234882"/>
            <a:ext cx="2047201" cy="952897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 See Cookie &amp;</a:t>
            </a:r>
          </a:p>
          <a:p>
            <a:pPr algn="ctr"/>
            <a:r>
              <a:rPr lang="en-US" altLang="zh-TW" dirty="0"/>
              <a:t>Validate session </a:t>
            </a:r>
            <a:endParaRPr lang="zh-TW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B92DFC2-C19F-E827-CC3D-A49851057E49}"/>
              </a:ext>
            </a:extLst>
          </p:cNvPr>
          <p:cNvSpPr/>
          <p:nvPr/>
        </p:nvSpPr>
        <p:spPr>
          <a:xfrm>
            <a:off x="912638" y="1993026"/>
            <a:ext cx="2894456" cy="1323826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/>
              <a:t>fetch('bank.com/balance’, method: 'GET',    </a:t>
            </a:r>
          </a:p>
          <a:p>
            <a:r>
              <a:rPr lang="en-US" altLang="zh-TW" dirty="0"/>
              <a:t>credentials: 'include’</a:t>
            </a:r>
            <a:endParaRPr lang="zh-TW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85C5468-DD07-848A-8B50-518FD9A00944}"/>
              </a:ext>
            </a:extLst>
          </p:cNvPr>
          <p:cNvSpPr/>
          <p:nvPr/>
        </p:nvSpPr>
        <p:spPr>
          <a:xfrm>
            <a:off x="860964" y="4160347"/>
            <a:ext cx="3211814" cy="1704875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dirty="0"/>
              <a:t>Browser checks CORS</a:t>
            </a:r>
            <a:endParaRPr lang="en-US" altLang="zh-TW" dirty="0"/>
          </a:p>
          <a:p>
            <a:r>
              <a:rPr lang="zh-TW" altLang="en-US" dirty="0"/>
              <a:t>// Request Origin: evil.com</a:t>
            </a:r>
            <a:endParaRPr lang="en-US" altLang="zh-TW" dirty="0"/>
          </a:p>
          <a:p>
            <a:r>
              <a:rPr lang="zh-TW" altLang="en-US" dirty="0"/>
              <a:t>// Allowed Origin: mybank.com</a:t>
            </a:r>
            <a:endParaRPr lang="en-US" altLang="zh-TW" dirty="0"/>
          </a:p>
          <a:p>
            <a:r>
              <a:rPr lang="zh-TW" altLang="en-US" dirty="0"/>
              <a:t>// Do they match? ❌ NO!</a:t>
            </a:r>
            <a:endParaRPr lang="en-US" altLang="zh-TW" dirty="0"/>
          </a:p>
          <a:p>
            <a:r>
              <a:rPr lang="en-US" altLang="zh-TW" dirty="0"/>
              <a:t>Block JS access resources</a:t>
            </a:r>
            <a:endParaRPr lang="zh-TW" altLang="en-US" dirty="0"/>
          </a:p>
        </p:txBody>
      </p: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B726A485-F61F-8662-646E-1F329E71B654}"/>
              </a:ext>
            </a:extLst>
          </p:cNvPr>
          <p:cNvCxnSpPr>
            <a:stCxn id="19" idx="3"/>
            <a:endCxn id="16" idx="1"/>
          </p:cNvCxnSpPr>
          <p:nvPr/>
        </p:nvCxnSpPr>
        <p:spPr>
          <a:xfrm>
            <a:off x="3807094" y="2654939"/>
            <a:ext cx="4246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0CC09A0E-E8D8-4329-BBE9-CDE3EE8EC493}"/>
              </a:ext>
            </a:extLst>
          </p:cNvPr>
          <p:cNvCxnSpPr>
            <a:cxnSpLocks/>
            <a:stCxn id="17" idx="1"/>
            <a:endCxn id="20" idx="3"/>
          </p:cNvCxnSpPr>
          <p:nvPr/>
        </p:nvCxnSpPr>
        <p:spPr>
          <a:xfrm flipH="1">
            <a:off x="4072778" y="5012785"/>
            <a:ext cx="13134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接點: 肘形 30">
            <a:extLst>
              <a:ext uri="{FF2B5EF4-FFF2-40B4-BE49-F238E27FC236}">
                <a16:creationId xmlns:a16="http://schemas.microsoft.com/office/drawing/2014/main" id="{B2076644-198D-11EE-E660-9CD47439FD5D}"/>
              </a:ext>
            </a:extLst>
          </p:cNvPr>
          <p:cNvCxnSpPr>
            <a:cxnSpLocks/>
            <a:stCxn id="16" idx="3"/>
            <a:endCxn id="18" idx="0"/>
          </p:cNvCxnSpPr>
          <p:nvPr/>
        </p:nvCxnSpPr>
        <p:spPr>
          <a:xfrm>
            <a:off x="7219762" y="2654939"/>
            <a:ext cx="3275625" cy="57994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接點: 肘形 33">
            <a:extLst>
              <a:ext uri="{FF2B5EF4-FFF2-40B4-BE49-F238E27FC236}">
                <a16:creationId xmlns:a16="http://schemas.microsoft.com/office/drawing/2014/main" id="{1719162A-213F-8729-3116-E95063A8C091}"/>
              </a:ext>
            </a:extLst>
          </p:cNvPr>
          <p:cNvCxnSpPr>
            <a:cxnSpLocks/>
            <a:stCxn id="18" idx="2"/>
            <a:endCxn id="17" idx="3"/>
          </p:cNvCxnSpPr>
          <p:nvPr/>
        </p:nvCxnSpPr>
        <p:spPr>
          <a:xfrm rot="5400000">
            <a:off x="9361852" y="3879250"/>
            <a:ext cx="825006" cy="144206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5080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166</Words>
  <Application>Microsoft Office PowerPoint</Application>
  <PresentationFormat>寬螢幕</PresentationFormat>
  <Paragraphs>22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vivian ho</dc:creator>
  <cp:lastModifiedBy>vivian ho</cp:lastModifiedBy>
  <cp:revision>2</cp:revision>
  <dcterms:created xsi:type="dcterms:W3CDTF">2025-11-13T16:35:36Z</dcterms:created>
  <dcterms:modified xsi:type="dcterms:W3CDTF">2025-11-13T17:34:04Z</dcterms:modified>
</cp:coreProperties>
</file>